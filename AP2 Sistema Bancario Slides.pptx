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00000"/>
                </a:solidFill>
                <a:latin typeface="Arial"/>
              </a:defRPr>
            </a:pPr>
            <a:r>
              <a:t>FUNDAMENTOS DE PROGRAMAÇÃO</a:t>
            </a:r>
          </a:p>
          <a:p>
            <a:pPr algn="ctr">
              <a:defRPr sz="3400" b="1">
                <a:solidFill>
                  <a:srgbClr val="000000"/>
                </a:solidFill>
                <a:latin typeface="Arial"/>
              </a:defRPr>
            </a:pPr>
            <a:r>
              <a:t>ORIENTADA A OBJETOS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0">
                <a:solidFill>
                  <a:srgbClr val="000000"/>
                </a:solidFill>
                <a:latin typeface="Arial"/>
              </a:defRPr>
            </a:pPr>
            <a:r>
              <a:t>AP2 — 27/10/2026</a:t>
            </a:r>
          </a:p>
          <a:p>
            <a:pPr algn="ctr">
              <a:defRPr sz="2300" b="0">
                <a:solidFill>
                  <a:srgbClr val="000000"/>
                </a:solidFill>
                <a:latin typeface="Arial"/>
              </a:defRPr>
            </a:pPr>
            <a:r>
              <a:t>Sistema Bancário em Java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Arial"/>
              </a:defRPr>
            </a:pPr>
            <a:r>
              <a:t>Diagrama de Classes UML</a:t>
            </a:r>
          </a:p>
        </p:txBody>
      </p:sp>
      <p:pic>
        <p:nvPicPr>
          <p:cNvPr id="3" name="Picture 2" descr="diagrama_a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960120"/>
            <a:ext cx="6285586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Arial"/>
              </a:defRPr>
            </a:pPr>
            <a:r>
              <a:t>1. Herança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920240"/>
            <a:ext cx="10149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0">
                <a:solidFill>
                  <a:srgbClr val="000000"/>
                </a:solidFill>
                <a:latin typeface="Arial"/>
              </a:defRPr>
            </a:pPr>
            <a:r>
              <a:t>Utilizamos extends para criar as contas Poupança e Corrente a partir da classe Conta.</a:t>
            </a:r>
          </a:p>
          <a:p>
            <a:pPr>
              <a:defRPr sz="2600" b="0">
                <a:solidFill>
                  <a:srgbClr val="000000"/>
                </a:solidFill>
                <a:latin typeface="Arial"/>
              </a:defRPr>
            </a:pPr>
          </a:p>
          <a:p>
            <a:pPr>
              <a:defRPr sz="2600" b="0">
                <a:solidFill>
                  <a:srgbClr val="000000"/>
                </a:solidFill>
                <a:latin typeface="Arial"/>
              </a:defRPr>
            </a:pPr>
            <a:r>
              <a:t>O super permite aproveitar o construtor da classe principal.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Arial"/>
              </a:defRPr>
            </a:pPr>
            <a:r>
              <a:t>2. Encapsulamento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920240"/>
            <a:ext cx="10149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0">
                <a:solidFill>
                  <a:srgbClr val="000000"/>
                </a:solidFill>
                <a:latin typeface="Arial"/>
              </a:defRPr>
            </a:pPr>
            <a:r>
              <a:t>Utilizamos private e protected para proteger os dados.</a:t>
            </a:r>
          </a:p>
          <a:p>
            <a:pPr>
              <a:defRPr sz="2600" b="0">
                <a:solidFill>
                  <a:srgbClr val="000000"/>
                </a:solidFill>
                <a:latin typeface="Arial"/>
              </a:defRPr>
            </a:pPr>
          </a:p>
          <a:p>
            <a:pPr>
              <a:defRPr sz="2600" b="0">
                <a:solidFill>
                  <a:srgbClr val="000000"/>
                </a:solidFill>
                <a:latin typeface="Arial"/>
              </a:defRPr>
            </a:pPr>
            <a:r>
              <a:t>Criamos métodos para consultar o saldo, depositar e sacar, verificando se os valores são permitidos.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Arial"/>
              </a:defRPr>
            </a:pPr>
            <a:r>
              <a:t>3. Diagrama UML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920240"/>
            <a:ext cx="10149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0">
                <a:solidFill>
                  <a:srgbClr val="000000"/>
                </a:solidFill>
                <a:latin typeface="Arial"/>
              </a:defRPr>
            </a:pPr>
            <a:r>
              <a:t>Criamos as quatro classes solicitadas: Conta, ContaPoupanca, ContaCorrente e Banco, com seus atributos e métodos.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Arial"/>
              </a:defRPr>
            </a:pPr>
            <a:r>
              <a:t>4. Banco com ArrayList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920240"/>
            <a:ext cx="10149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0">
                <a:solidFill>
                  <a:srgbClr val="000000"/>
                </a:solidFill>
                <a:latin typeface="Arial"/>
              </a:defRPr>
            </a:pPr>
            <a:r>
              <a:t>Utilizamos ArrayList para guardar as contas.</a:t>
            </a:r>
          </a:p>
          <a:p>
            <a:pPr>
              <a:defRPr sz="2600" b="0">
                <a:solidFill>
                  <a:srgbClr val="000000"/>
                </a:solidFill>
                <a:latin typeface="Arial"/>
              </a:defRPr>
            </a:pPr>
          </a:p>
          <a:p>
            <a:pPr>
              <a:defRPr sz="2600" b="0">
                <a:solidFill>
                  <a:srgbClr val="000000"/>
                </a:solidFill>
                <a:latin typeface="Arial"/>
              </a:defRPr>
            </a:pPr>
            <a:r>
              <a:t>O banco consegue adicionar contas, buscar pelo número, listar todas e calcular o saldo total.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Arial"/>
              </a:defRPr>
            </a:pPr>
            <a:r>
              <a:t>5. Funcionamento da 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920240"/>
            <a:ext cx="10149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0">
                <a:solidFill>
                  <a:srgbClr val="000000"/>
                </a:solidFill>
                <a:latin typeface="Arial"/>
              </a:defRPr>
            </a:pPr>
            <a:r>
              <a:t>Criamos três contas, fizemos depósitos e saques e mostramos um saque recusado.</a:t>
            </a:r>
          </a:p>
          <a:p>
            <a:pPr>
              <a:defRPr sz="2600" b="0">
                <a:solidFill>
                  <a:srgbClr val="000000"/>
                </a:solidFill>
                <a:latin typeface="Arial"/>
              </a:defRPr>
            </a:pPr>
          </a:p>
          <a:p>
            <a:pPr>
              <a:defRPr sz="2600" b="0">
                <a:solidFill>
                  <a:srgbClr val="000000"/>
                </a:solidFill>
                <a:latin typeface="Arial"/>
              </a:defRPr>
            </a:pPr>
            <a:r>
              <a:t>Aplicamos rendimento na poupança, utilizamos o limite da conta corrente e exibimos todas as contas com o saldo total.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